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07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Bluestock Mutual Fund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6E4F0"/>
                </a:solidFill>
              </a:defRPr>
            </a:pPr>
            <a:r>
              <a:t>Data engineering | Performance &amp; risk | Investor analytics |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Final capstone presentation | Built from the supplied project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Problem and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33B"/>
                </a:solidFill>
                <a:latin typeface="Aptos"/>
              </a:defRPr>
            </a:pPr>
            <a:r>
              <a:t>Bring fragmented industry, scheme, NAV, benchmark and transaction data into one analysis workflow.</a:t>
            </a:r>
          </a:p>
          <a:p>
            <a:pPr>
              <a:spcAft>
                <a:spcPts val="1300"/>
              </a:spcAft>
              <a:defRPr sz="2000">
                <a:solidFill>
                  <a:srgbClr val="14233B"/>
                </a:solidFill>
                <a:latin typeface="Aptos"/>
              </a:defRPr>
            </a:pPr>
            <a:r>
              <a:t>Compare returns and risk consistently across a 40-scheme sample.</a:t>
            </a:r>
          </a:p>
          <a:p>
            <a:pPr>
              <a:spcAft>
                <a:spcPts val="1300"/>
              </a:spcAft>
              <a:defRPr sz="2000">
                <a:solidFill>
                  <a:srgbClr val="14233B"/>
                </a:solidFill>
                <a:latin typeface="Aptos"/>
              </a:defRPr>
            </a:pPr>
            <a:r>
              <a:t>Explore investor transaction patterns and SIP continuity without claiming population representativeness.</a:t>
            </a:r>
          </a:p>
          <a:p>
            <a:pPr>
              <a:spcAft>
                <a:spcPts val="1300"/>
              </a:spcAft>
              <a:defRPr sz="2000">
                <a:solidFill>
                  <a:srgbClr val="14233B"/>
                </a:solidFill>
                <a:latin typeface="Aptos"/>
              </a:defRPr>
            </a:pPr>
            <a:r>
              <a:t>Deliver reproducible local analytics and an interactive four-page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Data sources and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233B"/>
                </a:solidFill>
                <a:latin typeface="Aptos"/>
              </a:defRPr>
            </a:pPr>
            <a:r>
              <a:t>10 supplied CSV datasets: fund master, NAV, AUM, SIP, category flows, folios, performance, transactions, holdings and benchmarks.</a:t>
            </a:r>
          </a:p>
          <a:p>
            <a:pPr>
              <a:spcAft>
                <a:spcPts val="1300"/>
              </a:spcAft>
              <a:defRPr sz="1800">
                <a:solidFill>
                  <a:srgbClr val="14233B"/>
                </a:solidFill>
                <a:latin typeface="Aptos"/>
              </a:defRPr>
            </a:pPr>
            <a:r>
              <a:t>NAV: 40 schemes across 1,608 observed dates.</a:t>
            </a:r>
          </a:p>
          <a:p>
            <a:pPr>
              <a:spcAft>
                <a:spcPts val="1300"/>
              </a:spcAft>
              <a:defRPr sz="1800">
                <a:solidFill>
                  <a:srgbClr val="14233B"/>
                </a:solidFill>
                <a:latin typeface="Aptos"/>
              </a:defRPr>
            </a:pPr>
            <a:r>
              <a:t>Investor transaction sample: 32,778 rows, January 2024 to May 2025.</a:t>
            </a:r>
          </a:p>
          <a:p>
            <a:pPr>
              <a:spcAft>
                <a:spcPts val="1300"/>
              </a:spcAft>
              <a:defRPr sz="1800">
                <a:solidFill>
                  <a:srgbClr val="14233B"/>
                </a:solidFill>
                <a:latin typeface="Aptos"/>
              </a:defRPr>
            </a:pPr>
            <a:r>
              <a:t>Latest fund-house AUM snapshot: Dec 2025; INR 62.74 lakh crore.</a:t>
            </a:r>
          </a:p>
          <a:p>
            <a:pPr>
              <a:spcAft>
                <a:spcPts val="1300"/>
              </a:spcAft>
              <a:defRPr sz="1800">
                <a:solidFill>
                  <a:srgbClr val="14233B"/>
                </a:solidFill>
                <a:latin typeface="Aptos"/>
              </a:defRPr>
            </a:pPr>
            <a:r>
              <a:t>Additional MFAPI live-NAV utility is opt-in; analytics pipeline runs offline by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Coverage windows differ by dataset; category inflows are FY25-only and holdings are a single snapshot.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ETL and analytics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1993392" cy="1371600"/>
          </a:xfrm>
          <a:prstGeom prst="rect">
            <a:avLst/>
          </a:prstGeom>
          <a:solidFill>
            <a:srgbClr val="F2F6FC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45059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457A7"/>
                </a:solidFill>
              </a:defRPr>
            </a:pPr>
            <a:r>
              <a:t>RAW DATA</a:t>
            </a:r>
          </a:p>
          <a:p>
            <a:pPr>
              <a:defRPr sz="1100">
                <a:solidFill>
                  <a:srgbClr val="14233B"/>
                </a:solidFill>
              </a:defRPr>
            </a:pPr>
            <a:r>
              <a:t>10 source CSVs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6312" y="257860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A6A1"/>
                </a:solidFill>
              </a:defRPr>
            </a:pPr>
            <a: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2194560"/>
            <a:ext cx="1993392" cy="1371600"/>
          </a:xfrm>
          <a:prstGeom prst="rect">
            <a:avLst/>
          </a:prstGeom>
          <a:solidFill>
            <a:srgbClr val="F2F6FC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245059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457A7"/>
                </a:solidFill>
              </a:defRPr>
            </a:pPr>
            <a:r>
              <a:t>TRANSFORM</a:t>
            </a:r>
          </a:p>
          <a:p>
            <a:pPr>
              <a:defRPr sz="1100">
                <a:solidFill>
                  <a:srgbClr val="14233B"/>
                </a:solidFill>
              </a:defRPr>
            </a:pPr>
            <a:r>
              <a:t>Validate + 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7860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A6A1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2936" y="2194560"/>
            <a:ext cx="1993392" cy="1371600"/>
          </a:xfrm>
          <a:prstGeom prst="rect">
            <a:avLst/>
          </a:prstGeom>
          <a:solidFill>
            <a:srgbClr val="F2F6FC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245059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457A7"/>
                </a:solidFill>
              </a:defRPr>
            </a:pPr>
            <a:r>
              <a:t>MODEL</a:t>
            </a:r>
          </a:p>
          <a:p>
            <a:pPr>
              <a:defRPr sz="1100">
                <a:solidFill>
                  <a:srgbClr val="14233B"/>
                </a:solidFill>
              </a:defRPr>
            </a:pPr>
            <a:r>
              <a:t>Processed CSV +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7" y="257860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A6A1"/>
                </a:solidFill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2194560"/>
            <a:ext cx="1993392" cy="1371600"/>
          </a:xfrm>
          <a:prstGeom prst="rect">
            <a:avLst/>
          </a:prstGeom>
          <a:solidFill>
            <a:srgbClr val="F2F6FC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245059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457A7"/>
                </a:solidFill>
              </a:defRPr>
            </a:pPr>
            <a:r>
              <a:t>ANALYZE</a:t>
            </a:r>
          </a:p>
          <a:p>
            <a:pPr>
              <a:defRPr sz="1100">
                <a:solidFill>
                  <a:srgbClr val="14233B"/>
                </a:solidFill>
              </a:defRPr>
            </a:pPr>
            <a:r>
              <a:t>EDA + performance +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6336" y="257860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7A6A1"/>
                </a:solidFill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2952" y="2194560"/>
            <a:ext cx="1993392" cy="1371600"/>
          </a:xfrm>
          <a:prstGeom prst="rect">
            <a:avLst/>
          </a:prstGeom>
          <a:solidFill>
            <a:srgbClr val="F2F6FC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45059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457A7"/>
                </a:solidFill>
              </a:defRPr>
            </a:pPr>
            <a:r>
              <a:t>DELIVER</a:t>
            </a:r>
          </a:p>
          <a:p>
            <a:pPr>
              <a:defRPr sz="1100">
                <a:solidFill>
                  <a:srgbClr val="14233B"/>
                </a:solidFill>
              </a:defRPr>
            </a:pPr>
            <a:r>
              <a:t>Streamlit + PDF + 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Keys: amfi_code for scheme-level joins; date for aligned snapshots/market series.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EDA highlight 1 | Industry and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pic>
        <p:nvPicPr>
          <p:cNvPr id="5" name="Picture 4" descr="05_aum_lates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2974"/>
            <a:ext cx="5440680" cy="3040650"/>
          </a:xfrm>
          <a:prstGeom prst="rect">
            <a:avLst/>
          </a:prstGeom>
        </p:spPr>
      </p:pic>
      <p:pic>
        <p:nvPicPr>
          <p:cNvPr id="6" name="Picture 5" descr="06_sip_monthly_in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91664"/>
            <a:ext cx="5440680" cy="3303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December 2025 SIP inflow: INR 31,002 crore; supplied AUM snapshots through Dec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EDA highlight 2 | Investors and schemes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pic>
        <p:nvPicPr>
          <p:cNvPr id="5" name="Picture 4" descr="15_sip_amount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9858"/>
            <a:ext cx="5440680" cy="3686883"/>
          </a:xfrm>
          <a:prstGeom prst="rect">
            <a:avLst/>
          </a:prstGeom>
        </p:spPr>
      </p:pic>
      <p:pic>
        <p:nvPicPr>
          <p:cNvPr id="6" name="Picture 5" descr="23_performance_3yr_vs_5y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91664"/>
            <a:ext cx="5440680" cy="3303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Investor summaries describe the supplied sample. Five-year returns are not available for the complete 2022-2026 NAV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Performance | Composite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Top composite rank: Mirae Asset Large Cap Fund - Regular - Growth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Score 86.25/100 | three-year CAGR 34.0% | Sharpe 1.46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Weights: 30% three-year return, 25% Sharpe, 20% annualized alpha, 15% inverse expense, 10% inverse drawdown.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Five-year CAGR is NA: observed daily NAV begins in January 2022.</a:t>
            </a:r>
          </a:p>
        </p:txBody>
      </p:sp>
      <p:pic>
        <p:nvPicPr>
          <p:cNvPr id="6" name="Picture 5" descr="benchmark_comparison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34271"/>
            <a:ext cx="5120640" cy="290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Score is a screening heuristic using percentile ranks; not an investment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Performance | Risk and benchmark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4233B"/>
                </a:solidFill>
                <a:latin typeface="Aptos"/>
              </a:defRPr>
            </a:pPr>
            <a:r>
              <a:t>Most negative historical 95% daily VaR: SBI Small Cap Fund - Direct Plan - Growth (-2.69%).</a:t>
            </a:r>
          </a:p>
          <a:p>
            <a:pPr>
              <a:spcAft>
                <a:spcPts val="1300"/>
              </a:spcAft>
              <a:defRPr sz="1600">
                <a:solidFill>
                  <a:srgbClr val="14233B"/>
                </a:solidFill>
                <a:latin typeface="Aptos"/>
              </a:defRPr>
            </a:pPr>
            <a:r>
              <a:t>Tail conditional mean (CVaR): -3.24%.</a:t>
            </a:r>
          </a:p>
          <a:p>
            <a:pPr>
              <a:spcAft>
                <a:spcPts val="1300"/>
              </a:spcAft>
              <a:defRPr sz="1600">
                <a:solidFill>
                  <a:srgbClr val="14233B"/>
                </a:solidFill>
                <a:latin typeface="Aptos"/>
              </a:defRPr>
            </a:pPr>
            <a:r>
              <a:t>Daily metrics use 1,149 observed market-date returns per scheme; annualized with 252 trading days.</a:t>
            </a:r>
          </a:p>
          <a:p>
            <a:pPr>
              <a:spcAft>
                <a:spcPts val="1300"/>
              </a:spcAft>
              <a:defRPr sz="1600">
                <a:solidFill>
                  <a:srgbClr val="14233B"/>
                </a:solidFill>
                <a:latin typeface="Aptos"/>
              </a:defRPr>
            </a:pPr>
            <a:r>
              <a:t>Risk-free proxy is 6.5% p.a.; alpha/beta use OLS versus NIFTY100 daily returns.</a:t>
            </a:r>
          </a:p>
        </p:txBody>
      </p:sp>
      <p:pic>
        <p:nvPicPr>
          <p:cNvPr id="6" name="Picture 5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65189"/>
            <a:ext cx="5120640" cy="273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Historical tail estimates describe the sample and do not bound future losses.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Dashboard | Industry overview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pic>
        <p:nvPicPr>
          <p:cNvPr id="5" name="Picture 4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853"/>
            <a:ext cx="5577840" cy="3244652"/>
          </a:xfrm>
          <a:prstGeom prst="rect">
            <a:avLst/>
          </a:prstGeom>
        </p:spPr>
      </p:pic>
      <p:pic>
        <p:nvPicPr>
          <p:cNvPr id="6" name="Picture 5" descr="page_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74394"/>
            <a:ext cx="5486400" cy="3303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Interactive local Streamlit dashboard; screenshots show static page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Dashboard | Investor and SIP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pic>
        <p:nvPicPr>
          <p:cNvPr id="5" name="Picture 4" descr="page_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8786"/>
            <a:ext cx="5577840" cy="3354787"/>
          </a:xfrm>
          <a:prstGeom prst="rect">
            <a:avLst/>
          </a:prstGeom>
        </p:spPr>
      </p:pic>
      <p:pic>
        <p:nvPicPr>
          <p:cNvPr id="6" name="Picture 5" descr="page_4_sip_and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2078169"/>
            <a:ext cx="5486400" cy="3296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Page outputs are limited to source dataset coverage and are not a published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B"/>
                </a:solidFill>
                <a:latin typeface="Aptos Display"/>
              </a:defRPr>
            </a:pPr>
            <a:r>
              <a:t>Key findings and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" cy="54864"/>
          </a:xfrm>
          <a:prstGeom prst="rect">
            <a:avLst/>
          </a:prstGeom>
          <a:solidFill>
            <a:srgbClr val="2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4805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457A7"/>
                </a:solidFill>
              </a:defRPr>
            </a:pPr>
            <a:r>
              <a:t>BLUESTOCK | MUTUAL FUND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Industry AUM totals INR 62.74 lakh crore in the latest supplied snapshot; monthly SIP series peaks at INR 31,002 crore.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Observed market-date NAV avoids artificial zero returns from forward-filled weekends and holidays.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At-risk SIP flag is a rule-based signal: mean gap &gt;35 days for investors with 6+ SIP rows.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Use scorecard and risk metrics for screening; verify suitability, holdings, fees and benchmark fit.</a:t>
            </a:r>
          </a:p>
          <a:p>
            <a:pPr>
              <a:spcAft>
                <a:spcPts val="1300"/>
              </a:spcAft>
              <a:defRPr sz="1700">
                <a:solidFill>
                  <a:srgbClr val="14233B"/>
                </a:solidFill>
                <a:latin typeface="Aptos"/>
              </a:defRPr>
            </a:pPr>
            <a:r>
              <a:t>Extend category flow, holdings and NAV history before stronger claims or long-horizon comparisons.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6E4F0"/>
                </a:solidFill>
              </a:defRPr>
            </a:pPr>
            <a:r>
              <a:t>Questions | Local Streamlit dashboard | Reproducible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8"/>
                </a:solidFill>
              </a:defRPr>
            </a:pPr>
            <a:r>
              <a:t>Limitations: sample coverage, historical metrics, no hosted URL and no validated native PBIX.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